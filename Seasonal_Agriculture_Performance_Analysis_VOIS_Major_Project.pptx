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9" d="100"/>
          <a:sy n="79" d="100"/>
        </p:scale>
        <p:origin x="67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214604" y="4361303"/>
            <a:ext cx="3400089" cy="861497"/>
          </a:xfrm>
        </p:spPr>
        <p:txBody>
          <a:bodyPr vert="horz" wrap="square" lIns="91440" tIns="45720" rIns="91440" bIns="45720" rtlCol="0" anchor="t">
            <a:normAutofit/>
          </a:bodyPr>
          <a:lstStyle/>
          <a:p>
            <a:pPr algn="l"/>
            <a:r>
              <a:rPr lang="en-US" b="0" dirty="0">
                <a:solidFill>
                  <a:schemeClr val="tx1"/>
                </a:solidFill>
              </a:rPr>
              <a:t>BODHISATVA TIWARI</a:t>
            </a:r>
          </a:p>
          <a:p>
            <a:pPr algn="l"/>
            <a:r>
              <a:rPr lang="en-US" b="0" dirty="0">
                <a:solidFill>
                  <a:schemeClr val="tx1"/>
                </a:solidFill>
              </a:rPr>
              <a:t>ARYA COLLEGE OF ENGG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92481" y="2986678"/>
            <a:ext cx="4998720" cy="743448"/>
          </a:xfrm>
        </p:spPr>
        <p:txBody>
          <a:bodyPr wrap="square">
            <a:normAutofit fontScale="90000"/>
          </a:bodyPr>
          <a:lstStyle/>
          <a:p>
            <a:pPr algn="l"/>
            <a:r>
              <a:rPr sz="2800" b="0" dirty="0">
                <a:solidFill>
                  <a:srgbClr val="000000"/>
                </a:solidFill>
                <a:latin typeface="Arial"/>
              </a:rPr>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2308" y="4468885"/>
            <a:ext cx="4130160" cy="892552"/>
          </a:xfrm>
          <a:prstGeom prst="rect">
            <a:avLst/>
          </a:prstGeom>
          <a:noFill/>
        </p:spPr>
        <p:txBody>
          <a:bodyPr wrap="square" rtlCol="0">
            <a:spAutoFit/>
          </a:bodyPr>
          <a:lstStyle/>
          <a:p>
            <a:r>
              <a:rPr sz="1600" b="1" dirty="0">
                <a:solidFill>
                  <a:srgbClr val="000000"/>
                </a:solidFill>
                <a:latin typeface="Arial"/>
              </a:rPr>
              <a:t>AICTE STU</a:t>
            </a:r>
            <a:r>
              <a:rPr lang="en-IN" sz="1600" b="1" dirty="0">
                <a:solidFill>
                  <a:srgbClr val="000000"/>
                </a:solidFill>
                <a:latin typeface="Arial"/>
              </a:rPr>
              <a:t> ID </a:t>
            </a:r>
            <a:r>
              <a:rPr sz="1600" b="1" dirty="0">
                <a:solidFill>
                  <a:srgbClr val="000000"/>
                </a:solidFill>
                <a:latin typeface="Arial"/>
              </a:rPr>
              <a:t>:</a:t>
            </a:r>
            <a:r>
              <a:rPr lang="en-IN" b="1" dirty="0"/>
              <a:t>STU6a281ba4ccb781781013412</a:t>
            </a:r>
            <a:r>
              <a:rPr sz="1600" b="1" dirty="0">
                <a:solidFill>
                  <a:srgbClr val="000000"/>
                </a:solidFill>
                <a:latin typeface="Arial"/>
              </a:rPr>
              <a:t> __________________</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wrap="square" lIns="91440" tIns="45720" rIns="91440" bIns="45720" rtlCol="0" anchor="t">
            <a:normAutofit/>
          </a:bodyPr>
          <a:lstStyle/>
          <a:p>
            <a:pPr algn="l">
              <a:lnSpc>
                <a:spcPct val="100000"/>
              </a:lnSpc>
            </a:pPr>
            <a:r>
              <a:rPr sz="1900" b="0" dirty="0">
                <a:solidFill>
                  <a:srgbClr val="000000"/>
                </a:solidFill>
                <a:latin typeface="Arial"/>
              </a:rPr>
              <a:t>Agricultural performance changes with seasonal environmental conditions, farming practices, resource availability and market conditions. Raw agricultural data does not clearly show these seasonal differences. This project analyzes the dataset to identify meaningful patterns, trends, relationships and variations in agricultural performance across seasons.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ormAutofit fontScale="90000"/>
          </a:bodyPr>
          <a:lstStyle/>
          <a:p>
            <a:pPr algn="l"/>
            <a:r>
              <a:rPr sz="1800" b="0">
                <a:solidFill>
                  <a:srgbClr val="000000"/>
                </a:solidFill>
                <a:latin typeface="Arial"/>
              </a:rPr>
              <a:t>Project Description
The project performs a focused data analytics study of 4,000 agricultural farm records across 3 seasons, 8 crops, 8 states, 10 districts and 4 irrigation methods. The workflow covers data inspection, missing-value treatment, exploratory analysis, seasonal comparison, crop and irrigation analysis, relationship analysis, visualization and evidence-based recommendations.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20008" y="1570176"/>
            <a:ext cx="9144000" cy="3840480"/>
          </a:xfrm>
          <a:prstGeom prst="rect">
            <a:avLst/>
          </a:prstGeom>
          <a:noFill/>
        </p:spPr>
        <p:txBody>
          <a:bodyPr wrap="square" lIns="50800" rIns="50800">
            <a:spAutoFit/>
          </a:bodyPr>
          <a:lstStyle/>
          <a:p>
            <a:pPr>
              <a:spcAft>
                <a:spcPts val="800"/>
              </a:spcAft>
              <a:defRPr sz="1800">
                <a:latin typeface="Arial"/>
              </a:defRPr>
            </a:pPr>
            <a:r>
              <a:rPr dirty="0"/>
              <a:t>• Farmers and farm managers — compare seasonal performance and resource-use patterns.</a:t>
            </a:r>
          </a:p>
          <a:p>
            <a:pPr>
              <a:spcAft>
                <a:spcPts val="800"/>
              </a:spcAft>
              <a:defRPr sz="1800">
                <a:latin typeface="Arial"/>
              </a:defRPr>
            </a:pPr>
            <a:r>
              <a:rPr dirty="0"/>
              <a:t>• Agricultural </a:t>
            </a:r>
            <a:r>
              <a:rPr lang="en-IN" dirty="0"/>
              <a:t>p</a:t>
            </a:r>
            <a:r>
              <a:rPr dirty="0"/>
              <a:t>lanners — support evidence-based seasonal planning.</a:t>
            </a:r>
          </a:p>
          <a:p>
            <a:pPr>
              <a:spcAft>
                <a:spcPts val="800"/>
              </a:spcAft>
              <a:defRPr sz="1800">
                <a:latin typeface="Arial"/>
              </a:defRPr>
            </a:pPr>
            <a:r>
              <a:rPr dirty="0"/>
              <a:t>• Agricultural analysts and researchers — investigate crop, environmental and economic relationships.</a:t>
            </a:r>
          </a:p>
          <a:p>
            <a:pPr>
              <a:spcAft>
                <a:spcPts val="800"/>
              </a:spcAft>
              <a:defRPr sz="1800">
                <a:latin typeface="Arial"/>
              </a:defRPr>
            </a:pPr>
            <a:r>
              <a:rPr dirty="0"/>
              <a:t>• Resource managers — examine irrigation and water-efficiency patterns.</a:t>
            </a:r>
          </a:p>
          <a:p>
            <a:pPr>
              <a:spcAft>
                <a:spcPts val="800"/>
              </a:spcAft>
              <a:defRPr sz="1800">
                <a:latin typeface="Arial"/>
              </a:defRPr>
            </a:pPr>
            <a:r>
              <a:rPr dirty="0"/>
              <a:t>• Policy and extension teams — identify areas requiring further investigation.</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581497" y="1278384"/>
            <a:ext cx="8095575" cy="2359620"/>
          </a:xfrm>
          <a:prstGeom prst="rect">
            <a:avLst/>
          </a:prstGeom>
          <a:noFill/>
        </p:spPr>
        <p:txBody>
          <a:bodyPr wrap="square" lIns="50800" rIns="50800">
            <a:spAutoFit/>
          </a:bodyPr>
          <a:lstStyle/>
          <a:p>
            <a:pPr>
              <a:spcAft>
                <a:spcPts val="800"/>
              </a:spcAft>
              <a:defRPr sz="1900">
                <a:latin typeface="Arial"/>
              </a:defRPr>
            </a:pPr>
            <a:r>
              <a:rPr dirty="0"/>
              <a:t>• Python — primary analysis language.</a:t>
            </a:r>
          </a:p>
          <a:p>
            <a:pPr>
              <a:spcAft>
                <a:spcPts val="800"/>
              </a:spcAft>
              <a:defRPr sz="1900">
                <a:latin typeface="Arial"/>
              </a:defRPr>
            </a:pPr>
            <a:r>
              <a:rPr dirty="0"/>
              <a:t>• Pandas — data loading, cleaning, grouping and aggregation.</a:t>
            </a:r>
          </a:p>
          <a:p>
            <a:pPr>
              <a:spcAft>
                <a:spcPts val="800"/>
              </a:spcAft>
              <a:defRPr sz="1900">
                <a:latin typeface="Arial"/>
              </a:defRPr>
            </a:pPr>
            <a:r>
              <a:rPr dirty="0"/>
              <a:t>• NumPy — numerical computation.</a:t>
            </a:r>
          </a:p>
          <a:p>
            <a:pPr>
              <a:spcAft>
                <a:spcPts val="800"/>
              </a:spcAft>
              <a:defRPr sz="1900">
                <a:latin typeface="Arial"/>
              </a:defRPr>
            </a:pPr>
            <a:r>
              <a:rPr dirty="0"/>
              <a:t>• Matplotlib — analytical charts and visualizations.</a:t>
            </a:r>
          </a:p>
          <a:p>
            <a:pPr>
              <a:spcAft>
                <a:spcPts val="800"/>
              </a:spcAft>
              <a:defRPr sz="1900">
                <a:latin typeface="Arial"/>
              </a:defRPr>
            </a:pPr>
            <a:r>
              <a:rPr dirty="0"/>
              <a:t>• Jupyter Notebook — analysis workflow and documentation.</a:t>
            </a:r>
          </a:p>
          <a:p>
            <a:pPr>
              <a:spcAft>
                <a:spcPts val="800"/>
              </a:spcAft>
              <a:defRPr sz="1900">
                <a:latin typeface="Arial"/>
              </a:defRPr>
            </a:pPr>
            <a:r>
              <a:rPr dirty="0"/>
              <a:t>• CSV dataset — source data for the project.</a:t>
            </a:r>
          </a:p>
        </p:txBody>
      </p:sp>
      <p:sp>
        <p:nvSpPr>
          <p:cNvPr id="18" name="TextBox 17"/>
          <p:cNvSpPr txBox="1"/>
          <p:nvPr/>
        </p:nvSpPr>
        <p:spPr>
          <a:xfrm>
            <a:off x="2125385" y="4284313"/>
            <a:ext cx="7174258" cy="830997"/>
          </a:xfrm>
          <a:prstGeom prst="rect">
            <a:avLst/>
          </a:prstGeom>
          <a:noFill/>
        </p:spPr>
        <p:txBody>
          <a:bodyPr wrap="square">
            <a:spAutoFit/>
          </a:bodyPr>
          <a:lstStyle/>
          <a:p>
            <a:pPr algn="ctr"/>
            <a:r>
              <a:rPr sz="1600" b="1" dirty="0">
                <a:latin typeface="Arial"/>
              </a:rPr>
              <a:t>Workflow
Data → Clean → Explore → Compare → Visualize → Interpret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Rounded Rectangle 23"/>
          <p:cNvSpPr/>
          <p:nvPr/>
        </p:nvSpPr>
        <p:spPr>
          <a:xfrm>
            <a:off x="685800" y="1234440"/>
            <a:ext cx="2011680" cy="1051560"/>
          </a:xfrm>
          <a:prstGeom prst="roundRect">
            <a:avLst/>
          </a:prstGeom>
          <a:solidFill>
            <a:srgbClr val="F5F8FA"/>
          </a:solidFill>
          <a:ln>
            <a:solidFill>
              <a:srgbClr val="B4C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500" b="1">
                <a:solidFill>
                  <a:srgbClr val="000000"/>
                </a:solidFill>
                <a:latin typeface="Arial"/>
              </a:rPr>
              <a:t>4,000</a:t>
            </a:r>
          </a:p>
          <a:p>
            <a:pPr algn="ctr"/>
            <a:r>
              <a:rPr sz="1200">
                <a:solidFill>
                  <a:srgbClr val="000000"/>
                </a:solidFill>
                <a:latin typeface="Arial"/>
              </a:rPr>
              <a:t>farm records</a:t>
            </a:r>
          </a:p>
        </p:txBody>
      </p:sp>
      <p:sp>
        <p:nvSpPr>
          <p:cNvPr id="25" name="Rounded Rectangle 24"/>
          <p:cNvSpPr/>
          <p:nvPr/>
        </p:nvSpPr>
        <p:spPr>
          <a:xfrm>
            <a:off x="2834640" y="1234440"/>
            <a:ext cx="2011680" cy="1051560"/>
          </a:xfrm>
          <a:prstGeom prst="roundRect">
            <a:avLst/>
          </a:prstGeom>
          <a:solidFill>
            <a:srgbClr val="F5F8FA"/>
          </a:solidFill>
          <a:ln>
            <a:solidFill>
              <a:srgbClr val="B4C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500" b="1">
                <a:solidFill>
                  <a:srgbClr val="000000"/>
                </a:solidFill>
                <a:latin typeface="Arial"/>
              </a:rPr>
              <a:t>28</a:t>
            </a:r>
          </a:p>
          <a:p>
            <a:pPr algn="ctr"/>
            <a:r>
              <a:rPr sz="1200">
                <a:solidFill>
                  <a:srgbClr val="000000"/>
                </a:solidFill>
                <a:latin typeface="Arial"/>
              </a:rPr>
              <a:t>variables</a:t>
            </a:r>
          </a:p>
        </p:txBody>
      </p:sp>
      <p:sp>
        <p:nvSpPr>
          <p:cNvPr id="26" name="Rounded Rectangle 25"/>
          <p:cNvSpPr/>
          <p:nvPr/>
        </p:nvSpPr>
        <p:spPr>
          <a:xfrm>
            <a:off x="4983480" y="1234440"/>
            <a:ext cx="2011680" cy="1051560"/>
          </a:xfrm>
          <a:prstGeom prst="roundRect">
            <a:avLst/>
          </a:prstGeom>
          <a:solidFill>
            <a:srgbClr val="F5F8FA"/>
          </a:solidFill>
          <a:ln>
            <a:solidFill>
              <a:srgbClr val="B4C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500" b="1">
                <a:solidFill>
                  <a:srgbClr val="000000"/>
                </a:solidFill>
                <a:latin typeface="Arial"/>
              </a:rPr>
              <a:t>3</a:t>
            </a:r>
          </a:p>
          <a:p>
            <a:pPr algn="ctr"/>
            <a:r>
              <a:rPr sz="1200">
                <a:solidFill>
                  <a:srgbClr val="000000"/>
                </a:solidFill>
                <a:latin typeface="Arial"/>
              </a:rPr>
              <a:t>seasons</a:t>
            </a:r>
          </a:p>
        </p:txBody>
      </p:sp>
      <p:sp>
        <p:nvSpPr>
          <p:cNvPr id="27" name="Rounded Rectangle 26"/>
          <p:cNvSpPr/>
          <p:nvPr/>
        </p:nvSpPr>
        <p:spPr>
          <a:xfrm>
            <a:off x="7132320" y="1234440"/>
            <a:ext cx="2011680" cy="1051560"/>
          </a:xfrm>
          <a:prstGeom prst="roundRect">
            <a:avLst/>
          </a:prstGeom>
          <a:solidFill>
            <a:srgbClr val="F5F8FA"/>
          </a:solidFill>
          <a:ln>
            <a:solidFill>
              <a:srgbClr val="B4C8D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500" b="1">
                <a:solidFill>
                  <a:srgbClr val="000000"/>
                </a:solidFill>
                <a:latin typeface="Arial"/>
              </a:rPr>
              <a:t>120</a:t>
            </a:r>
          </a:p>
          <a:p>
            <a:pPr algn="ctr"/>
            <a:r>
              <a:rPr sz="1200">
                <a:solidFill>
                  <a:srgbClr val="000000"/>
                </a:solidFill>
                <a:latin typeface="Arial"/>
              </a:rPr>
              <a:t>missing cells handled</a:t>
            </a:r>
          </a:p>
        </p:txBody>
      </p:sp>
      <p:sp>
        <p:nvSpPr>
          <p:cNvPr id="28" name="TextBox 27"/>
          <p:cNvSpPr txBox="1"/>
          <p:nvPr/>
        </p:nvSpPr>
        <p:spPr>
          <a:xfrm>
            <a:off x="777240" y="2560320"/>
            <a:ext cx="8595360" cy="2651760"/>
          </a:xfrm>
          <a:prstGeom prst="rect">
            <a:avLst/>
          </a:prstGeom>
          <a:noFill/>
        </p:spPr>
        <p:txBody>
          <a:bodyPr wrap="square" lIns="50800" rIns="50800">
            <a:spAutoFit/>
          </a:bodyPr>
          <a:lstStyle/>
          <a:p>
            <a:pPr>
              <a:spcAft>
                <a:spcPts val="800"/>
              </a:spcAft>
              <a:defRPr sz="1700">
                <a:latin typeface="Arial"/>
              </a:defRPr>
            </a:pPr>
            <a:r>
              <a:t>• Kharif has the highest median yield: 1.94 t/ha.</a:t>
            </a:r>
          </a:p>
          <a:p>
            <a:pPr>
              <a:spcAft>
                <a:spcPts val="800"/>
              </a:spcAft>
              <a:defRPr sz="1700">
                <a:latin typeface="Arial"/>
              </a:defRPr>
            </a:pPr>
            <a:r>
              <a:t>• Kharif also has the highest positive-profit rate: 57.8%.</a:t>
            </a:r>
          </a:p>
          <a:p>
            <a:pPr>
              <a:spcAft>
                <a:spcPts val="800"/>
              </a:spcAft>
              <a:defRPr sz="1700">
                <a:latin typeface="Arial"/>
              </a:defRPr>
            </a:pPr>
            <a:r>
              <a:t>• Drip irrigation has the highest median yield (1.94 t/ha) and median profit (₹52,895).</a:t>
            </a:r>
          </a:p>
          <a:p>
            <a:pPr>
              <a:spcAft>
                <a:spcPts val="800"/>
              </a:spcAft>
              <a:defRPr sz="1700">
                <a:latin typeface="Arial"/>
              </a:defRPr>
            </a:pPr>
            <a:r>
              <a:t>• Yield and water efficiency show a strong positive association (r = 0.91); this is an association, not a causal claim.</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wrap="square">
            <a:normAutofit fontScale="77500" lnSpcReduction="20000"/>
          </a:bodyPr>
          <a:lstStyle/>
          <a:p>
            <a:pPr marL="0" indent="0" algn="l">
              <a:buNone/>
            </a:pPr>
            <a:r>
              <a:rPr sz="1500" b="0">
                <a:solidFill>
                  <a:srgbClr val="000000"/>
                </a:solidFill>
                <a:latin typeface="Arial"/>
              </a:rPr>
              <a:t>Seasonal comparison: Kharif leads on both median yield and positive-profit rate; Zaid records the lowest values.</a:t>
            </a:r>
            <a:endParaRPr lang="en-IN" dirty="0"/>
          </a:p>
        </p:txBody>
      </p:sp>
      <p:pic>
        <p:nvPicPr>
          <p:cNvPr id="31" name="Picture 30" descr="season_yield.png"/>
          <p:cNvPicPr>
            <a:picLocks noChangeAspect="1"/>
          </p:cNvPicPr>
          <p:nvPr/>
        </p:nvPicPr>
        <p:blipFill>
          <a:blip r:embed="rId3"/>
          <a:stretch>
            <a:fillRect/>
          </a:stretch>
        </p:blipFill>
        <p:spPr>
          <a:xfrm>
            <a:off x="594360" y="1417320"/>
            <a:ext cx="4800600" cy="2783750"/>
          </a:xfrm>
          <a:prstGeom prst="rect">
            <a:avLst/>
          </a:prstGeom>
        </p:spPr>
      </p:pic>
      <p:pic>
        <p:nvPicPr>
          <p:cNvPr id="32" name="Picture 31" descr="season_profitability.png"/>
          <p:cNvPicPr>
            <a:picLocks noChangeAspect="1"/>
          </p:cNvPicPr>
          <p:nvPr/>
        </p:nvPicPr>
        <p:blipFill>
          <a:blip r:embed="rId4"/>
          <a:stretch>
            <a:fillRect/>
          </a:stretch>
        </p:blipFill>
        <p:spPr>
          <a:xfrm>
            <a:off x="5532120" y="1417320"/>
            <a:ext cx="4800600" cy="2807045"/>
          </a:xfrm>
          <a:prstGeom prst="rect">
            <a:avLst/>
          </a:prstGeom>
        </p:spPr>
      </p:pic>
      <p:sp>
        <p:nvSpPr>
          <p:cNvPr id="33" name="TextBox 32"/>
          <p:cNvSpPr txBox="1"/>
          <p:nvPr/>
        </p:nvSpPr>
        <p:spPr>
          <a:xfrm>
            <a:off x="647462" y="4478753"/>
            <a:ext cx="8869680" cy="594360"/>
          </a:xfrm>
          <a:prstGeom prst="rect">
            <a:avLst/>
          </a:prstGeom>
          <a:noFill/>
        </p:spPr>
        <p:txBody>
          <a:bodyPr wrap="square">
            <a:spAutoFit/>
          </a:bodyPr>
          <a:lstStyle/>
          <a:p>
            <a:pPr algn="l"/>
            <a:r>
              <a:rPr sz="1500" b="1" dirty="0">
                <a:solidFill>
                  <a:srgbClr val="000000"/>
                </a:solidFill>
                <a:latin typeface="Arial"/>
              </a:rPr>
              <a:t>Key result: Kharif leads in both median yield and positive-profit rate; Zaid is lowest on both measures.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wrap="square">
            <a:normAutofit fontScale="70000" lnSpcReduction="20000"/>
          </a:bodyPr>
          <a:lstStyle/>
          <a:p>
            <a:pPr marL="0" indent="0" algn="l">
              <a:buNone/>
            </a:pPr>
            <a:r>
              <a:rPr sz="1500" b="0">
                <a:solidFill>
                  <a:srgbClr val="000000"/>
                </a:solidFill>
                <a:latin typeface="Arial"/>
              </a:rPr>
              <a:t>Sugarcane has the highest yield in every season; for the other crops, Kharif consistently records the highest median yield.</a:t>
            </a:r>
            <a:endParaRPr lang="en-IN" dirty="0"/>
          </a:p>
        </p:txBody>
      </p:sp>
      <p:pic>
        <p:nvPicPr>
          <p:cNvPr id="31" name="Picture 30" descr="crop_season_heatmap.png"/>
          <p:cNvPicPr>
            <a:picLocks noChangeAspect="1"/>
          </p:cNvPicPr>
          <p:nvPr/>
        </p:nvPicPr>
        <p:blipFill>
          <a:blip r:embed="rId3"/>
          <a:stretch>
            <a:fillRect/>
          </a:stretch>
        </p:blipFill>
        <p:spPr>
          <a:xfrm>
            <a:off x="502920" y="1325880"/>
            <a:ext cx="5486400" cy="3538476"/>
          </a:xfrm>
          <a:prstGeom prst="rect">
            <a:avLst/>
          </a:prstGeom>
        </p:spPr>
      </p:pic>
      <p:pic>
        <p:nvPicPr>
          <p:cNvPr id="32" name="Picture 31" descr="code_crop.png"/>
          <p:cNvPicPr>
            <a:picLocks noChangeAspect="1"/>
          </p:cNvPicPr>
          <p:nvPr/>
        </p:nvPicPr>
        <p:blipFill>
          <a:blip r:embed="rId4"/>
          <a:stretch>
            <a:fillRect/>
          </a:stretch>
        </p:blipFill>
        <p:spPr>
          <a:xfrm>
            <a:off x="6126480" y="1508760"/>
            <a:ext cx="4892040" cy="2649855"/>
          </a:xfrm>
          <a:prstGeom prst="rect">
            <a:avLst/>
          </a:prstGeom>
        </p:spPr>
      </p:pic>
      <p:sp>
        <p:nvSpPr>
          <p:cNvPr id="33" name="TextBox 32"/>
          <p:cNvSpPr txBox="1"/>
          <p:nvPr/>
        </p:nvSpPr>
        <p:spPr>
          <a:xfrm>
            <a:off x="822960" y="5440680"/>
            <a:ext cx="8869680" cy="594360"/>
          </a:xfrm>
          <a:prstGeom prst="rect">
            <a:avLst/>
          </a:prstGeom>
          <a:noFill/>
        </p:spPr>
        <p:txBody>
          <a:bodyPr wrap="square">
            <a:spAutoFit/>
          </a:bodyPr>
          <a:lstStyle/>
          <a:p>
            <a:pPr algn="l"/>
            <a:r>
              <a:rPr sz="1500" b="1">
                <a:solidFill>
                  <a:srgbClr val="000000"/>
                </a:solidFill>
                <a:latin typeface="Arial"/>
              </a:rPr>
              <a:t>Key result: Sugarcane records the highest median yield in every season; Kharif is highest for every crop shown.</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wrap="square">
            <a:normAutofit fontScale="70000" lnSpcReduction="20000"/>
          </a:bodyPr>
          <a:lstStyle/>
          <a:p>
            <a:pPr marL="0" indent="0" algn="l">
              <a:buNone/>
            </a:pPr>
            <a:r>
              <a:rPr sz="1400" b="0">
                <a:solidFill>
                  <a:srgbClr val="000000"/>
                </a:solidFill>
                <a:latin typeface="Arial"/>
              </a:rPr>
              <a:t>Drip has the highest median yield and profit. Rainfed shows higher water-efficiency values in this dataset, but lower median yield and profit than Drip.</a:t>
            </a:r>
            <a:endParaRPr lang="en-IN" dirty="0"/>
          </a:p>
        </p:txBody>
      </p:sp>
      <p:pic>
        <p:nvPicPr>
          <p:cNvPr id="31" name="Picture 30" descr="irrigation_yield.png"/>
          <p:cNvPicPr>
            <a:picLocks noChangeAspect="1"/>
          </p:cNvPicPr>
          <p:nvPr/>
        </p:nvPicPr>
        <p:blipFill>
          <a:blip r:embed="rId3"/>
          <a:stretch>
            <a:fillRect/>
          </a:stretch>
        </p:blipFill>
        <p:spPr>
          <a:xfrm>
            <a:off x="502920" y="1417320"/>
            <a:ext cx="5074920" cy="3091271"/>
          </a:xfrm>
          <a:prstGeom prst="rect">
            <a:avLst/>
          </a:prstGeom>
        </p:spPr>
      </p:pic>
      <p:pic>
        <p:nvPicPr>
          <p:cNvPr id="32" name="Picture 31" descr="yield_water_scatter.png"/>
          <p:cNvPicPr>
            <a:picLocks noChangeAspect="1"/>
          </p:cNvPicPr>
          <p:nvPr/>
        </p:nvPicPr>
        <p:blipFill>
          <a:blip r:embed="rId4"/>
          <a:stretch>
            <a:fillRect/>
          </a:stretch>
        </p:blipFill>
        <p:spPr>
          <a:xfrm>
            <a:off x="5623560" y="1417320"/>
            <a:ext cx="4983480" cy="3394099"/>
          </a:xfrm>
          <a:prstGeom prst="rect">
            <a:avLst/>
          </a:prstGeom>
        </p:spPr>
      </p:pic>
      <p:sp>
        <p:nvSpPr>
          <p:cNvPr id="33" name="TextBox 32"/>
          <p:cNvSpPr txBox="1"/>
          <p:nvPr/>
        </p:nvSpPr>
        <p:spPr>
          <a:xfrm>
            <a:off x="822960" y="5440680"/>
            <a:ext cx="8869680" cy="594360"/>
          </a:xfrm>
          <a:prstGeom prst="rect">
            <a:avLst/>
          </a:prstGeom>
          <a:noFill/>
        </p:spPr>
        <p:txBody>
          <a:bodyPr wrap="square">
            <a:spAutoFit/>
          </a:bodyPr>
          <a:lstStyle/>
          <a:p>
            <a:pPr algn="l"/>
            <a:r>
              <a:rPr sz="1500" b="1">
                <a:solidFill>
                  <a:srgbClr val="000000"/>
                </a:solidFill>
                <a:latin typeface="Arial"/>
              </a:rPr>
              <a:t>Key result: Drip has the highest median yield and profit. The strong yield–water-efficiency relationship is descriptive, not causal.</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wrap="square">
            <a:normAutofit fontScale="70000" lnSpcReduction="20000"/>
          </a:bodyPr>
          <a:lstStyle/>
          <a:p>
            <a:pPr marL="0" indent="0" algn="l">
              <a:buNone/>
            </a:pPr>
            <a:r>
              <a:rPr sz="1500" b="0">
                <a:solidFill>
                  <a:srgbClr val="000000"/>
                </a:solidFill>
                <a:latin typeface="Arial"/>
              </a:rPr>
              <a:t>Median profit is highest for Telangana, followed by Karnataka and Punjab. Economic performance varies substantially across states.</a:t>
            </a:r>
            <a:endParaRPr lang="en-IN" dirty="0"/>
          </a:p>
        </p:txBody>
      </p:sp>
      <p:pic>
        <p:nvPicPr>
          <p:cNvPr id="31" name="Picture 30" descr="state_profit.png"/>
          <p:cNvPicPr>
            <a:picLocks noChangeAspect="1"/>
          </p:cNvPicPr>
          <p:nvPr/>
        </p:nvPicPr>
        <p:blipFill>
          <a:blip r:embed="rId3"/>
          <a:stretch>
            <a:fillRect/>
          </a:stretch>
        </p:blipFill>
        <p:spPr>
          <a:xfrm>
            <a:off x="502920" y="1371600"/>
            <a:ext cx="5074920" cy="3171261"/>
          </a:xfrm>
          <a:prstGeom prst="rect">
            <a:avLst/>
          </a:prstGeom>
        </p:spPr>
      </p:pic>
      <p:pic>
        <p:nvPicPr>
          <p:cNvPr id="32" name="Picture 31" descr="code_corr.png"/>
          <p:cNvPicPr>
            <a:picLocks noChangeAspect="1"/>
          </p:cNvPicPr>
          <p:nvPr/>
        </p:nvPicPr>
        <p:blipFill>
          <a:blip r:embed="rId4"/>
          <a:stretch>
            <a:fillRect/>
          </a:stretch>
        </p:blipFill>
        <p:spPr>
          <a:xfrm>
            <a:off x="5623560" y="1463040"/>
            <a:ext cx="4892040" cy="2649855"/>
          </a:xfrm>
          <a:prstGeom prst="rect">
            <a:avLst/>
          </a:prstGeom>
        </p:spPr>
      </p:pic>
      <p:sp>
        <p:nvSpPr>
          <p:cNvPr id="33" name="TextBox 32"/>
          <p:cNvSpPr txBox="1"/>
          <p:nvPr/>
        </p:nvSpPr>
        <p:spPr>
          <a:xfrm>
            <a:off x="822960" y="5440680"/>
            <a:ext cx="8869680" cy="594360"/>
          </a:xfrm>
          <a:prstGeom prst="rect">
            <a:avLst/>
          </a:prstGeom>
          <a:noFill/>
        </p:spPr>
        <p:txBody>
          <a:bodyPr wrap="square">
            <a:spAutoFit/>
          </a:bodyPr>
          <a:lstStyle/>
          <a:p>
            <a:pPr algn="l"/>
            <a:r>
              <a:rPr sz="1500" b="1">
                <a:solidFill>
                  <a:srgbClr val="000000"/>
                </a:solidFill>
                <a:latin typeface="Arial"/>
              </a:rPr>
              <a:t>Key result: Telangana has the highest median profit, followed by Karnataka and Punjab; several states have negative median profit.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77240" y="1325880"/>
            <a:ext cx="8869680" cy="4114800"/>
          </a:xfrm>
          <a:prstGeom prst="rect">
            <a:avLst/>
          </a:prstGeom>
          <a:noFill/>
        </p:spPr>
        <p:txBody>
          <a:bodyPr wrap="square" lIns="50800" rIns="50800">
            <a:spAutoFit/>
          </a:bodyPr>
          <a:lstStyle/>
          <a:p>
            <a:pPr>
              <a:spcAft>
                <a:spcPts val="800"/>
              </a:spcAft>
              <a:defRPr sz="1800">
                <a:latin typeface="Arial"/>
              </a:defRPr>
            </a:pPr>
            <a:r>
              <a:t>• Add multi-year data to separate seasonal effects from year-to-year variation.</a:t>
            </a:r>
          </a:p>
          <a:p>
            <a:pPr>
              <a:spcAft>
                <a:spcPts val="800"/>
              </a:spcAft>
              <a:defRPr sz="1800">
                <a:latin typeface="Arial"/>
              </a:defRPr>
            </a:pPr>
            <a:r>
              <a:t>• Build predictive models for yield, profit and disease/pest risk.</a:t>
            </a:r>
          </a:p>
          <a:p>
            <a:pPr>
              <a:spcAft>
                <a:spcPts val="800"/>
              </a:spcAft>
              <a:defRPr sz="1800">
                <a:latin typeface="Arial"/>
              </a:defRPr>
            </a:pPr>
            <a:r>
              <a:t>• Develop an interactive dashboard for season, crop, state and irrigation filters.</a:t>
            </a:r>
          </a:p>
          <a:p>
            <a:pPr>
              <a:spcAft>
                <a:spcPts val="800"/>
              </a:spcAft>
              <a:defRPr sz="1800">
                <a:latin typeface="Arial"/>
              </a:defRPr>
            </a:pPr>
            <a:r>
              <a:t>• Evaluate resource-use optimization for water, fertilizer and pesticides.</a:t>
            </a:r>
          </a:p>
          <a:p>
            <a:pPr>
              <a:spcAft>
                <a:spcPts val="800"/>
              </a:spcAft>
              <a:defRPr sz="1800">
                <a:latin typeface="Arial"/>
              </a:defRPr>
            </a:pPr>
            <a:r>
              <a:t>• Add weather forecasts and market-price trends for forward-looking planning.</a:t>
            </a:r>
          </a:p>
          <a:p>
            <a:pPr>
              <a:spcAft>
                <a:spcPts val="800"/>
              </a:spcAft>
              <a:defRPr sz="1800">
                <a:latin typeface="Arial"/>
              </a:defRPr>
            </a:pPr>
            <a:r>
              <a:t>• Validate patterns with field-level agricultural expertise before operational decisions.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1201586"/>
            <a:ext cx="8046720" cy="914400"/>
          </a:xfrm>
          <a:prstGeom prst="rect">
            <a:avLst/>
          </a:prstGeom>
          <a:noFill/>
        </p:spPr>
        <p:txBody>
          <a:bodyPr wrap="square">
            <a:spAutoFit/>
          </a:bodyPr>
          <a:lstStyle/>
          <a:p>
            <a:pPr algn="l"/>
            <a:r>
              <a:rPr sz="2400" b="1" dirty="0">
                <a:latin typeface="Arial"/>
              </a:rPr>
              <a:t>Project repository</a:t>
            </a:r>
          </a:p>
        </p:txBody>
      </p:sp>
      <p:sp>
        <p:nvSpPr>
          <p:cNvPr id="25" name="TextBox 24"/>
          <p:cNvSpPr txBox="1"/>
          <p:nvPr/>
        </p:nvSpPr>
        <p:spPr>
          <a:xfrm>
            <a:off x="675957" y="1733633"/>
            <a:ext cx="8046720" cy="353943"/>
          </a:xfrm>
          <a:prstGeom prst="rect">
            <a:avLst/>
          </a:prstGeom>
          <a:noFill/>
        </p:spPr>
        <p:txBody>
          <a:bodyPr wrap="square">
            <a:spAutoFit/>
          </a:bodyPr>
          <a:lstStyle/>
          <a:p>
            <a:pPr algn="l"/>
            <a:r>
              <a:rPr sz="1700" b="0" dirty="0">
                <a:latin typeface="Arial"/>
              </a:rPr>
              <a:t>Source code and project files are available through the GitHub repository </a:t>
            </a:r>
            <a:r>
              <a:rPr lang="en-US" sz="1700" dirty="0">
                <a:latin typeface="Arial"/>
              </a:rPr>
              <a:t>below</a:t>
            </a:r>
            <a:r>
              <a:rPr sz="1700" b="0" dirty="0">
                <a:latin typeface="Arial"/>
              </a:rPr>
              <a: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wrap="square">
            <a:normAutofit fontScale="90000"/>
          </a:bodyPr>
          <a:lstStyle/>
          <a:p>
            <a:pPr algn="l"/>
            <a:r>
              <a:rPr sz="2700" b="0">
                <a:solidFill>
                  <a:srgbClr val="000000"/>
                </a:solidFill>
                <a:latin typeface="Arial"/>
              </a:rPr>
              <a:t>VOIS Course completion certificate -
Course name: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52A8343-0864-B6CA-41B2-AF0AD75133FA}"/>
              </a:ext>
            </a:extLst>
          </p:cNvPr>
          <p:cNvPicPr>
            <a:picLocks noChangeAspect="1"/>
          </p:cNvPicPr>
          <p:nvPr/>
        </p:nvPicPr>
        <p:blipFill>
          <a:blip r:embed="rId3"/>
          <a:stretch>
            <a:fillRect/>
          </a:stretch>
        </p:blipFill>
        <p:spPr>
          <a:xfrm>
            <a:off x="2200592" y="1520575"/>
            <a:ext cx="6612031" cy="467594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216075"/>
            <a:ext cx="11340000" cy="700114"/>
          </a:xfrm>
          <a:prstGeom prst="rect">
            <a:avLst/>
          </a:prstGeom>
        </p:spPr>
        <p:txBody>
          <a:bodyPr wrap="square" anchor="ctr">
            <a:normAutofit fontScale="90000"/>
          </a:bodyPr>
          <a:lstStyle/>
          <a:p>
            <a:pPr algn="ctr"/>
            <a:r>
              <a:rPr sz="4800" b="1" dirty="0">
                <a:solidFill>
                  <a:srgbClr val="000000"/>
                </a:solidFill>
                <a:latin typeface="Aria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1393</TotalTime>
  <Words>634</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The project performs a focused data analytics study of 4,000 agricultural farm records across 3 seasons, 8 crops, 8 states, 10 districts and 4 irrigation methods. The workflow covers data inspection, missing-value treatment, exploratory analysis, seasonal comparison, crop and irrigation analysis, relationship analysis, visualization and evidence-based recommendations.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Bodhi Tiwari</cp:lastModifiedBy>
  <cp:revision>100</cp:revision>
  <dcterms:created xsi:type="dcterms:W3CDTF">2021-07-11T13:13:15Z</dcterms:created>
  <dcterms:modified xsi:type="dcterms:W3CDTF">2026-09-09T17:55:36Z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